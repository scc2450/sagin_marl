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212"/>
                </a:solidFill>
                <a:latin typeface="微软雅黑" panose="020B0503020204020204" charset="-122"/>
              </a:rPr>
              <a:t>1. 原 PPO 训练信号不稳定</a:t>
            </a:r>
            <a:endParaRPr sz="2800" b="1">
              <a:solidFill>
                <a:srgbClr val="121212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972800" cy="27432"/>
          </a:xfrm>
          <a:prstGeom prst="rect">
            <a:avLst/>
          </a:prstGeom>
          <a:solidFill>
            <a:srgbClr val="16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777240"/>
          </a:xfrm>
          <a:prstGeom prst="roundRect">
            <a:avLst/>
          </a:prstGeom>
          <a:solidFill>
            <a:srgbClr val="F4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ae_advant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2220" y="1591310"/>
            <a:ext cx="4606290" cy="5575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2331720"/>
            <a:ext cx="5394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0">
                <a:solidFill>
                  <a:srgbClr val="121212"/>
                </a:solidFill>
                <a:latin typeface="微软雅黑" panose="020B0503020204020204" charset="-122"/>
              </a:rPr>
              <a:t>1. GAE 目标依赖价值函数自举。</a:t>
            </a:r>
            <a:endParaRPr sz="1900" b="0">
              <a:solidFill>
                <a:srgbClr val="121212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121212"/>
                </a:solidFill>
                <a:latin typeface="微软雅黑" panose="020B0503020204020204" charset="-122"/>
              </a:rPr>
              <a:t>2. 早期价值函数很差时，critic 学完整时域价值很慢。</a:t>
            </a:r>
            <a:endParaRPr sz="1900" b="0">
              <a:solidFill>
                <a:srgbClr val="121212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121212"/>
                </a:solidFill>
                <a:latin typeface="微软雅黑" panose="020B0503020204020204" charset="-122"/>
              </a:rPr>
              <a:t>3. actor 的优势估计不能稳定反映当前阶段动作好坏。</a:t>
            </a:r>
            <a:endParaRPr sz="1900" b="0">
              <a:solidFill>
                <a:srgbClr val="121212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46520" y="2597150"/>
          <a:ext cx="47548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审计项</a:t>
                      </a:r>
                      <a:endParaRPr sz="1500" b="1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数值</a:t>
                      </a:r>
                      <a:endParaRPr sz="1500" b="1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GAE 目标均值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约 -0.146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完整时域价值均值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约 -2.012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GAE 反复拟合后 EV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约 0.003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MC 目标拟合 EV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约 0.997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0749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58A0"/>
                </a:solidFill>
                <a:latin typeface="微软雅黑" panose="020B0503020204020204" charset="-122"/>
              </a:rPr>
              <a:t>结论：critic 不是完全学不了价值函数；主要问题是 GAE 自举目标早期尺度不对、传播太慢。</a:t>
            </a:r>
            <a:endParaRPr sz="2000" b="1">
              <a:solidFill>
                <a:srgbClr val="1658A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09960" y="64465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微软雅黑" panose="020B0503020204020204" charset="-122"/>
              </a:rPr>
              <a:t>1</a:t>
            </a:r>
            <a:endParaRPr sz="1000" b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212"/>
                </a:solidFill>
                <a:latin typeface="微软雅黑" panose="020B0503020204020204" charset="-122"/>
              </a:rPr>
              <a:t>2. 改成 MC-GAE critic 训练</a:t>
            </a:r>
            <a:endParaRPr sz="2800" b="1">
              <a:solidFill>
                <a:srgbClr val="121212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972800" cy="27432"/>
          </a:xfrm>
          <a:prstGeom prst="rect">
            <a:avLst/>
          </a:prstGeom>
          <a:solidFill>
            <a:srgbClr val="16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658A0"/>
                </a:solidFill>
                <a:latin typeface="微软雅黑" panose="020B0503020204020204" charset="-122"/>
              </a:rPr>
              <a:t>旧流程</a:t>
            </a:r>
            <a:endParaRPr sz="2100" b="1">
              <a:solidFill>
                <a:srgbClr val="1658A0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121212"/>
                </a:solidFill>
                <a:latin typeface="微软雅黑" panose="020B0503020204020204" charset="-122"/>
              </a:rPr>
              <a:t>1. 采样一批轨迹</a:t>
            </a:r>
            <a:endParaRPr sz="1800" b="0">
              <a:solidFill>
                <a:srgbClr val="121212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21212"/>
                </a:solidFill>
                <a:latin typeface="微软雅黑" panose="020B0503020204020204" charset="-122"/>
              </a:rPr>
              <a:t>2. 用当前 critic 计算 GAE</a:t>
            </a:r>
            <a:endParaRPr sz="1800" b="0">
              <a:solidFill>
                <a:srgbClr val="121212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21212"/>
                </a:solidFill>
                <a:latin typeface="微软雅黑" panose="020B0503020204020204" charset="-122"/>
              </a:rPr>
              <a:t>3. 用 GAE 回报训练 critic</a:t>
            </a:r>
            <a:endParaRPr sz="1800" b="0">
              <a:solidFill>
                <a:srgbClr val="121212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21212"/>
                </a:solidFill>
                <a:latin typeface="微软雅黑" panose="020B0503020204020204" charset="-122"/>
              </a:rPr>
              <a:t>4. 用 GAE 优势更新 actor</a:t>
            </a:r>
            <a:endParaRPr sz="1800" b="0">
              <a:solidFill>
                <a:srgbClr val="121212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658A0"/>
                </a:solidFill>
                <a:latin typeface="微软雅黑" panose="020B0503020204020204" charset="-122"/>
              </a:rPr>
              <a:t>新流程</a:t>
            </a:r>
            <a:endParaRPr sz="2100" b="1">
              <a:solidFill>
                <a:srgbClr val="1658A0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63640" y="178308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121212"/>
                </a:solidFill>
                <a:latin typeface="微软雅黑" panose="020B0503020204020204" charset="-122"/>
              </a:rPr>
              <a:t>1. 采样 64 个环境 × 250 步</a:t>
            </a:r>
            <a:endParaRPr sz="1800" b="0">
              <a:solidFill>
                <a:srgbClr val="121212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21212"/>
                </a:solidFill>
                <a:latin typeface="微软雅黑" panose="020B0503020204020204" charset="-122"/>
              </a:rPr>
              <a:t>2. 用有限时域 MC 回报训练 critic</a:t>
            </a:r>
            <a:endParaRPr sz="1800" b="0">
              <a:solidFill>
                <a:srgbClr val="121212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21212"/>
                </a:solidFill>
                <a:latin typeface="微软雅黑" panose="020B0503020204020204" charset="-122"/>
              </a:rPr>
              <a:t>3. critic 训好后重新计算 GAE(V)</a:t>
            </a:r>
            <a:endParaRPr sz="1800" b="0">
              <a:solidFill>
                <a:srgbClr val="121212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21212"/>
                </a:solidFill>
                <a:latin typeface="微软雅黑" panose="020B0503020204020204" charset="-122"/>
              </a:rPr>
              <a:t>4. actor 仍用 PPO 裁剪目标更新</a:t>
            </a:r>
            <a:endParaRPr sz="1800" b="0">
              <a:solidFill>
                <a:srgbClr val="121212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97280" y="3840480"/>
            <a:ext cx="99669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c_retur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3845" y="4023360"/>
            <a:ext cx="6513830" cy="603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1663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658A0"/>
                </a:solidFill>
                <a:latin typeface="微软雅黑" panose="020B0503020204020204" charset="-122"/>
              </a:rPr>
              <a:t>MC 回报提供正确的价值尺度；重新计算的 GAE(V) 为 actor 提供更低方差的优势估计。</a:t>
            </a:r>
            <a:endParaRPr sz="2100" b="1">
              <a:solidFill>
                <a:srgbClr val="1658A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09960" y="64465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微软雅黑" panose="020B0503020204020204" charset="-122"/>
              </a:rPr>
              <a:t>2</a:t>
            </a:r>
            <a:endParaRPr sz="1000" b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212"/>
                </a:solidFill>
                <a:latin typeface="微软雅黑" panose="020B0503020204020204" charset="-122"/>
              </a:rPr>
              <a:t>3. 先保证 critic 可用，再更新 actor</a:t>
            </a:r>
            <a:endParaRPr sz="2800" b="1">
              <a:solidFill>
                <a:srgbClr val="121212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972800" cy="27432"/>
          </a:xfrm>
          <a:prstGeom prst="rect">
            <a:avLst/>
          </a:prstGeom>
          <a:solidFill>
            <a:srgbClr val="16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17320"/>
          <a:ext cx="1051560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80467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阶段</a:t>
                      </a:r>
                      <a:endParaRPr sz="1500" b="1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设置</a:t>
                      </a:r>
                      <a:endParaRPr sz="1500" b="1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第一轮冷启动拟合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学习率 1e-3，基础 20 轮，EV 不够则补训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后续跟踪拟合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学习率 3e-4，基础 5 轮，EV 不够则补训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697480"/>
          <a:ext cx="74066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阶段</a:t>
                      </a:r>
                      <a:endParaRPr sz="1600" b="1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第 1 轮 EV</a:t>
                      </a:r>
                      <a:endParaRPr sz="1600" b="1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第 300 轮 EV</a:t>
                      </a:r>
                      <a:endParaRPr sz="1600" b="1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加速度</a:t>
                      </a:r>
                      <a:endParaRPr sz="16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0.934</a:t>
                      </a:r>
                      <a:endParaRPr sz="16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0.963</a:t>
                      </a:r>
                      <a:endParaRPr sz="16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选星</a:t>
                      </a:r>
                      <a:endParaRPr sz="16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0.922</a:t>
                      </a:r>
                      <a:endParaRPr sz="16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0.971</a:t>
                      </a:r>
                      <a:endParaRPr sz="16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带宽</a:t>
                      </a:r>
                      <a:endParaRPr sz="16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0.939</a:t>
                      </a:r>
                      <a:endParaRPr sz="16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0.977</a:t>
                      </a:r>
                      <a:endParaRPr sz="16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709160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121212"/>
                </a:solidFill>
                <a:latin typeface="微软雅黑" panose="020B0503020204020204" charset="-122"/>
              </a:rPr>
              <a:t>1. KL 早停：单轮 actor 更新内 KL 过大就提前停止。</a:t>
            </a:r>
            <a:endParaRPr sz="1800" b="0">
              <a:solidFill>
                <a:srgbClr val="121212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21212"/>
                </a:solidFill>
                <a:latin typeface="微软雅黑" panose="020B0503020204020204" charset="-122"/>
              </a:rPr>
              <a:t>2. 学习率衰减：KL 或裁剪比例持续过大时降低 actor 学习率。</a:t>
            </a:r>
            <a:endParaRPr sz="1800" b="0">
              <a:solidFill>
                <a:srgbClr val="121212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21212"/>
                </a:solidFill>
                <a:latin typeface="微软雅黑" panose="020B0503020204020204" charset="-122"/>
              </a:rPr>
              <a:t>3. 学习率增长：当前关闭，避免后期学习率涨得过激。</a:t>
            </a:r>
            <a:endParaRPr sz="1800" b="0">
              <a:solidFill>
                <a:srgbClr val="121212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589788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658A0"/>
                </a:solidFill>
                <a:latin typeface="微软雅黑" panose="020B0503020204020204" charset="-122"/>
              </a:rPr>
              <a:t>第 1 轮需要多训 critic；后续策略变化较小后，较少训练轮数基本能跟上。</a:t>
            </a:r>
            <a:endParaRPr sz="1900" b="1">
              <a:solidFill>
                <a:srgbClr val="1658A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09960" y="64465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微软雅黑" panose="020B0503020204020204" charset="-122"/>
              </a:rPr>
              <a:t>3</a:t>
            </a:r>
            <a:endParaRPr sz="1000" b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212"/>
                </a:solidFill>
                <a:latin typeface="微软雅黑" panose="020B0503020204020204" charset="-122"/>
              </a:rPr>
              <a:t>4. BW macro K=5：让带宽动作影响持续更久</a:t>
            </a:r>
            <a:endParaRPr sz="2800" b="1">
              <a:solidFill>
                <a:srgbClr val="121212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972800" cy="27432"/>
          </a:xfrm>
          <a:prstGeom prst="rect">
            <a:avLst/>
          </a:prstGeom>
          <a:solidFill>
            <a:srgbClr val="16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0">
                <a:solidFill>
                  <a:srgbClr val="121212"/>
                </a:solidFill>
                <a:latin typeface="微软雅黑" panose="020B0503020204020204" charset="-122"/>
              </a:rPr>
              <a:t>1. 只改 MC-GAE critic 后，收益仍更像主要来自加速度阶段。</a:t>
            </a:r>
            <a:endParaRPr sz="2000" b="0">
              <a:solidFill>
                <a:srgbClr val="121212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2000" b="0">
                <a:solidFill>
                  <a:srgbClr val="121212"/>
                </a:solidFill>
                <a:latin typeface="微软雅黑" panose="020B0503020204020204" charset="-122"/>
              </a:rPr>
              <a:t>2. 进一步加入带宽宏决策：带宽决策间隔 = 5。</a:t>
            </a:r>
            <a:endParaRPr sz="2000" b="0">
              <a:solidFill>
                <a:srgbClr val="121212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97280" y="2743200"/>
            <a:ext cx="9875520" cy="685800"/>
          </a:xfrm>
          <a:prstGeom prst="roundRect">
            <a:avLst/>
          </a:prstGeom>
          <a:solidFill>
            <a:srgbClr val="F4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w_macr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5845" y="2853055"/>
            <a:ext cx="5020310" cy="4660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3767328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0">
                <a:solidFill>
                  <a:srgbClr val="121212"/>
                </a:solidFill>
                <a:latin typeface="微软雅黑" panose="020B0503020204020204" charset="-122"/>
              </a:rPr>
              <a:t>1. 环境仍按原始步长一步一步执行。</a:t>
            </a:r>
            <a:endParaRPr sz="2000" b="0">
              <a:solidFill>
                <a:srgbClr val="121212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2000" b="0">
                <a:solidFill>
                  <a:srgbClr val="121212"/>
                </a:solidFill>
                <a:latin typeface="微软雅黑" panose="020B0503020204020204" charset="-122"/>
              </a:rPr>
              <a:t>2. 回报、价值和 return 仍逐步计算。</a:t>
            </a:r>
            <a:endParaRPr sz="2000" b="0">
              <a:solidFill>
                <a:srgbClr val="121212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2000" b="0">
                <a:solidFill>
                  <a:srgbClr val="121212"/>
                </a:solidFill>
                <a:latin typeface="微软雅黑" panose="020B0503020204020204" charset="-122"/>
              </a:rPr>
              <a:t>3. 带宽 actor 只在宏决策起点更新。</a:t>
            </a:r>
            <a:endParaRPr sz="2000" b="0">
              <a:solidFill>
                <a:srgbClr val="121212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550468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658A0"/>
                </a:solidFill>
                <a:latin typeface="微软雅黑" panose="020B0503020204020204" charset="-122"/>
              </a:rPr>
              <a:t>目的：避免一步带宽决策很快被下一步覆盖，增强带宽动作 credit。</a:t>
            </a:r>
            <a:endParaRPr sz="2100" b="1">
              <a:solidFill>
                <a:srgbClr val="1658A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09960" y="64465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微软雅黑" panose="020B0503020204020204" charset="-122"/>
              </a:rPr>
              <a:t>4</a:t>
            </a:r>
            <a:endParaRPr sz="1000" b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212"/>
                </a:solidFill>
                <a:latin typeface="微软雅黑" panose="020B0503020204020204" charset="-122"/>
              </a:rPr>
              <a:t>5. 整体结果：联合训练超过规则策略</a:t>
            </a:r>
            <a:endParaRPr sz="2800" b="1">
              <a:solidFill>
                <a:srgbClr val="121212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972800" cy="27432"/>
          </a:xfrm>
          <a:prstGeom prst="rect">
            <a:avLst/>
          </a:prstGeom>
          <a:solidFill>
            <a:srgbClr val="16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121212"/>
                </a:solidFill>
                <a:latin typeface="微软雅黑" panose="020B0503020204020204" charset="-122"/>
              </a:rPr>
              <a:t>1. 3 UAV / 20 GU，时域长度 250。</a:t>
            </a:r>
            <a:endParaRPr sz="1800" b="0">
              <a:solidFill>
                <a:srgbClr val="121212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21212"/>
                </a:solidFill>
                <a:latin typeface="微软雅黑" panose="020B0503020204020204" charset="-122"/>
              </a:rPr>
              <a:t>2. 64 个环境，训练 300 次更新。</a:t>
            </a:r>
            <a:endParaRPr sz="1800" b="0">
              <a:solidFill>
                <a:srgbClr val="121212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21212"/>
                </a:solidFill>
                <a:latin typeface="微软雅黑" panose="020B0503020204020204" charset="-122"/>
              </a:rPr>
              <a:t>3. 奖励：positive weighted workload level。</a:t>
            </a:r>
            <a:endParaRPr sz="1800" b="0">
              <a:solidFill>
                <a:srgbClr val="121212"/>
              </a:solidFill>
              <a:latin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21212"/>
                </a:solidFill>
                <a:latin typeface="微软雅黑" panose="020B0503020204020204" charset="-122"/>
              </a:rPr>
              <a:t>4. 选星 K=1，带宽 K=5。</a:t>
            </a:r>
            <a:endParaRPr sz="1800" b="0">
              <a:solidFill>
                <a:srgbClr val="121212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417320"/>
          <a:ext cx="46634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策略</a:t>
                      </a:r>
                      <a:endParaRPr sz="1700" b="1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回报</a:t>
                      </a:r>
                      <a:endParaRPr sz="1700" b="1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规则基线</a:t>
                      </a:r>
                      <a:endParaRPr sz="17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45.28</a:t>
                      </a:r>
                      <a:endParaRPr sz="17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最终策略</a:t>
                      </a:r>
                      <a:endParaRPr sz="17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58.34</a:t>
                      </a:r>
                      <a:endParaRPr sz="17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最佳阶段头组合</a:t>
                      </a:r>
                      <a:endParaRPr sz="17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59.33</a:t>
                      </a:r>
                      <a:endParaRPr sz="17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880360" y="3794760"/>
          <a:ext cx="58521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对比</a:t>
                      </a:r>
                      <a:endParaRPr sz="1800" b="1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提升</a:t>
                      </a:r>
                      <a:endParaRPr sz="1800" b="1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最终策略 - 规则基线</a:t>
                      </a:r>
                      <a:endParaRPr sz="18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+13.06</a:t>
                      </a:r>
                      <a:endParaRPr sz="18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最佳阶段头 - 规则基线</a:t>
                      </a:r>
                      <a:endParaRPr sz="18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+14.05</a:t>
                      </a:r>
                      <a:endParaRPr sz="18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48640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58A0"/>
                </a:solidFill>
                <a:latin typeface="微软雅黑" panose="020B0503020204020204" charset="-122"/>
              </a:rPr>
              <a:t>结论：MC-GAE critic + 带宽 K=5 后，联合策略显著超过规则策略。</a:t>
            </a:r>
            <a:endParaRPr sz="2200" b="1">
              <a:solidFill>
                <a:srgbClr val="1658A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09960" y="64465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微软雅黑" panose="020B0503020204020204" charset="-122"/>
              </a:rPr>
              <a:t>5</a:t>
            </a:r>
            <a:endParaRPr sz="1000" b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212"/>
                </a:solidFill>
                <a:latin typeface="微软雅黑" panose="020B0503020204020204" charset="-122"/>
              </a:rPr>
              <a:t>6. 各阶段贡献：主要收益来自带宽，选星/加速度有组合叠加</a:t>
            </a:r>
            <a:endParaRPr sz="2800" b="1">
              <a:solidFill>
                <a:srgbClr val="121212"/>
              </a:solidFill>
              <a:latin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94360" y="1115568"/>
            <a:ext cx="10972800" cy="27432"/>
          </a:xfrm>
          <a:prstGeom prst="rect">
            <a:avLst/>
          </a:prstGeom>
          <a:solidFill>
            <a:srgbClr val="16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58A0"/>
                </a:solidFill>
                <a:latin typeface="微软雅黑" panose="020B0503020204020204" charset="-122"/>
              </a:rPr>
              <a:t>最终检查点相对规则</a:t>
            </a:r>
            <a:endParaRPr sz="2000" b="1">
              <a:solidFill>
                <a:srgbClr val="1658A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37360"/>
          <a:ext cx="4114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组合</a:t>
                      </a:r>
                      <a:endParaRPr sz="1600" b="1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提升</a:t>
                      </a:r>
                      <a:endParaRPr sz="1600" b="1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仅加速度</a:t>
                      </a:r>
                      <a:endParaRPr sz="16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+0.35</a:t>
                      </a:r>
                      <a:endParaRPr sz="16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仅选星</a:t>
                      </a:r>
                      <a:endParaRPr sz="16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+0.11</a:t>
                      </a:r>
                      <a:endParaRPr sz="16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仅带宽</a:t>
                      </a:r>
                      <a:endParaRPr sz="16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+10.60</a:t>
                      </a:r>
                      <a:endParaRPr sz="16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三阶段联合</a:t>
                      </a:r>
                      <a:endParaRPr sz="16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+13.06</a:t>
                      </a:r>
                      <a:endParaRPr sz="16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658A0"/>
                </a:solidFill>
                <a:latin typeface="微软雅黑" panose="020B0503020204020204" charset="-122"/>
              </a:rPr>
              <a:t>最佳阶段头相对规则</a:t>
            </a:r>
            <a:endParaRPr sz="2000" b="1">
              <a:solidFill>
                <a:srgbClr val="1658A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737360"/>
          <a:ext cx="42976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组合</a:t>
                      </a:r>
                      <a:endParaRPr sz="1500" b="1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提升</a:t>
                      </a:r>
                      <a:endParaRPr sz="1500" b="1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仅加速度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+0.29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仅选星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+0.13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仅带宽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+12.45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加速度+带宽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+13.41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选星+带宽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+13.55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三阶段联合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21212"/>
                          </a:solidFill>
                          <a:latin typeface="微软雅黑" panose="020B0503020204020204" charset="-122"/>
                        </a:rPr>
                        <a:t>+14.05</a:t>
                      </a:r>
                      <a:endParaRPr sz="1500" b="0">
                        <a:solidFill>
                          <a:srgbClr val="121212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005840" y="4709160"/>
            <a:ext cx="10149840" cy="731520"/>
          </a:xfrm>
          <a:prstGeom prst="roundRect">
            <a:avLst/>
          </a:prstGeom>
          <a:solidFill>
            <a:srgbClr val="F4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age_g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9885" y="4860290"/>
            <a:ext cx="6410960" cy="511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806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658A0"/>
                </a:solidFill>
                <a:latin typeface="微软雅黑" panose="020B0503020204020204" charset="-122"/>
              </a:rPr>
              <a:t>结论：带宽是主要收益来源；选星和加速度单独收益小，但二者在带宽基础上都有叠加。</a:t>
            </a:r>
            <a:endParaRPr sz="2000" b="1">
              <a:solidFill>
                <a:srgbClr val="1658A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09960" y="64465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微软雅黑" panose="020B0503020204020204" charset="-122"/>
              </a:rPr>
              <a:t>6</a:t>
            </a:r>
            <a:endParaRPr sz="1000" b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1348</Words>
  <Application>WPS 演示</Application>
  <PresentationFormat>On-screen Show (4:3)</PresentationFormat>
  <Paragraphs>206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Jianrui</cp:lastModifiedBy>
  <cp:revision>2</cp:revision>
  <dcterms:created xsi:type="dcterms:W3CDTF">2013-01-27T09:14:00Z</dcterms:created>
  <dcterms:modified xsi:type="dcterms:W3CDTF">2026-05-14T08:27:18Z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3B3A7AE16A964004ADB41E37398BA089_12</vt:lpwstr>
  </property>
  <property fmtid="{D5CDD505-2E9C-101B-9397-08002B2CF9AE}" pid="3" name="KSOProductBuildVer">
    <vt:lpwstr>2052-12.1.0.26375</vt:lpwstr>
  </property>
</Properties>
</file>